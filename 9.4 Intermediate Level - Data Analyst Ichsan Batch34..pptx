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2"/>
  </p:sldMasterIdLst>
  <p:notesMasterIdLst>
    <p:notesMasterId r:id="rId12"/>
  </p:notesMasterIdLst>
  <p:sldIdLst>
    <p:sldId id="274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73" r:id="rId11"/>
  </p:sldIdLst>
  <p:sldSz cx="12192000" cy="6858000"/>
  <p:notesSz cx="12192000" cy="6858000"/>
  <p:embeddedFontLst>
    <p:embeddedFont>
      <p:font typeface="ADLaM Display" panose="02010000000000000000" pitchFamily="2" charset="0"/>
      <p:regular r:id="rId13"/>
    </p:embeddedFont>
    <p:embeddedFont>
      <p:font typeface="Cabin" panose="020B0604020202020204" charset="0"/>
      <p:regular r:id="rId14"/>
    </p:embeddedFont>
    <p:embeddedFont>
      <p:font typeface="Liberation Sans" panose="020B0604020202020204" pitchFamily="34" charset="0"/>
      <p:regular r:id="rId15"/>
      <p:bold r:id="rId16"/>
      <p:italic r:id="rId17"/>
      <p:boldItalic r:id="rId18"/>
    </p:embeddedFont>
    <p:embeddedFont>
      <p:font typeface="Poppins Light" panose="00000400000000000000" pitchFamily="2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8" autoAdjust="0"/>
  </p:normalViewPr>
  <p:slideViewPr>
    <p:cSldViewPr>
      <p:cViewPr>
        <p:scale>
          <a:sx n="75" d="100"/>
          <a:sy n="75" d="100"/>
        </p:scale>
        <p:origin x="1836" y="63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BEAF3-AF11-4EA5-829E-99484827F117}" type="datetimeFigureOut">
              <a:rPr lang="en-ID" smtClean="0"/>
              <a:t>18/09/2025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5A3EB-C380-4493-8405-8D883BD6D5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417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0E634-B2C4-2751-0C80-EF46CB57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39A9D-5F93-78CD-47DD-706F72032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647A7-0A79-2B58-B54D-3D2A5EC04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67F68-B7BB-A4AC-9E89-87BAA6CB2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8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3489798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377666" y="6162930"/>
            <a:ext cx="1737264" cy="534670"/>
          </a:xfrm>
        </p:spPr>
        <p:txBody>
          <a:bodyPr/>
          <a:lstStyle/>
          <a:p>
            <a:fld id="{C16525B2-4347-4F72-BAF7-76B19438D32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2568130" y="6162930"/>
            <a:ext cx="2417063" cy="53467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5438394" y="6162930"/>
            <a:ext cx="1737264" cy="534670"/>
          </a:xfrm>
        </p:spPr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836">
              <a:alpha val="95000"/>
            </a:srgbClr>
          </a:solidFill>
          <a:ln/>
        </p:spPr>
        <p:txBody>
          <a:bodyPr/>
          <a:lstStyle/>
          <a:p>
            <a:endParaRPr lang="en-ID" sz="1500" dirty="0"/>
          </a:p>
        </p:txBody>
      </p:sp>
    </p:spTree>
    <p:extLst>
      <p:ext uri="{BB962C8B-B14F-4D97-AF65-F5344CB8AC3E}">
        <p14:creationId xmlns:p14="http://schemas.microsoft.com/office/powerpoint/2010/main" val="1433204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4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836">
              <a:alpha val="95000"/>
            </a:srgbClr>
          </a:solidFill>
          <a:ln/>
        </p:spPr>
        <p:txBody>
          <a:bodyPr/>
          <a:lstStyle/>
          <a:p>
            <a:endParaRPr lang="en-ID" sz="1500" dirty="0"/>
          </a:p>
        </p:txBody>
      </p:sp>
    </p:spTree>
    <p:extLst>
      <p:ext uri="{BB962C8B-B14F-4D97-AF65-F5344CB8AC3E}">
        <p14:creationId xmlns:p14="http://schemas.microsoft.com/office/powerpoint/2010/main" val="310867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250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hyperlink" Target="mailto:Ichsan.saputra007@gmail.com" TargetMode="Externa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5D1B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457200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 0"/>
          <p:cNvSpPr/>
          <p:nvPr/>
        </p:nvSpPr>
        <p:spPr>
          <a:xfrm>
            <a:off x="5270103" y="1665155"/>
            <a:ext cx="6223794" cy="1619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 Performance Analysis and Strategic Recommendations</a:t>
            </a:r>
          </a:p>
        </p:txBody>
      </p:sp>
      <p:sp>
        <p:nvSpPr>
          <p:cNvPr id="4" name="Text 1"/>
          <p:cNvSpPr/>
          <p:nvPr/>
        </p:nvSpPr>
        <p:spPr>
          <a:xfrm>
            <a:off x="5270103" y="3486249"/>
            <a:ext cx="6921897" cy="698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8"/>
              </a:lnSpc>
            </a:pPr>
            <a:r>
              <a:rPr lang="en-US" sz="1667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Insights from Data for Sustainable Growth Q4 2018 - Q4 2019</a:t>
            </a:r>
          </a:p>
          <a:p>
            <a:pPr>
              <a:lnSpc>
                <a:spcPts val="2708"/>
              </a:lnSpc>
            </a:pPr>
            <a:endParaRPr lang="en-US" sz="1667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61B047-65BC-8A76-22DB-0C6117BB48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4549" y="-196523"/>
            <a:ext cx="1398698" cy="1155748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86F62975-5DE2-27A1-1C77-FDAC72CB86E8}"/>
              </a:ext>
            </a:extLst>
          </p:cNvPr>
          <p:cNvSpPr txBox="1"/>
          <p:nvPr/>
        </p:nvSpPr>
        <p:spPr>
          <a:xfrm>
            <a:off x="5270103" y="4265350"/>
            <a:ext cx="11085763" cy="740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Final Project – GROWIA Data Analyst Certification</a:t>
            </a:r>
          </a:p>
          <a:p>
            <a:pPr>
              <a:lnSpc>
                <a:spcPct val="150000"/>
              </a:lnSpc>
            </a:pPr>
            <a:r>
              <a:rPr lang="en-US" sz="1333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By: Ichsan Saputra | Batch #34</a:t>
            </a:r>
            <a:endParaRPr lang="en-US" sz="20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AAFB07F4-27B9-680F-62A2-9C6B55F805A0}"/>
              </a:ext>
            </a:extLst>
          </p:cNvPr>
          <p:cNvSpPr/>
          <p:nvPr/>
        </p:nvSpPr>
        <p:spPr>
          <a:xfrm flipV="1">
            <a:off x="5279176" y="5082913"/>
            <a:ext cx="2531325" cy="0"/>
          </a:xfrm>
          <a:prstGeom prst="line">
            <a:avLst/>
          </a:prstGeom>
          <a:ln w="19050" cap="flat">
            <a:solidFill>
              <a:srgbClr val="02D1B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A7EC7-4B90-03AA-DB20-D6E7B36C96AD}"/>
              </a:ext>
            </a:extLst>
          </p:cNvPr>
          <p:cNvSpPr txBox="1"/>
          <p:nvPr/>
        </p:nvSpPr>
        <p:spPr>
          <a:xfrm>
            <a:off x="10219121" y="6595961"/>
            <a:ext cx="19728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05D1B9"/>
                </a:solidFill>
                <a:latin typeface="Poppins Light"/>
                <a:ea typeface="Poppins Light"/>
                <a:cs typeface="Poppins Light"/>
                <a:sym typeface="Poppins Light"/>
              </a:rPr>
              <a:t>9.4 Task : Intermediate Level</a:t>
            </a:r>
            <a:endParaRPr lang="en-ID" sz="1000" i="1" dirty="0">
              <a:solidFill>
                <a:srgbClr val="05D1B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4"/>
            <a:ext cx="12191999" cy="6926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0999" y="357385"/>
            <a:ext cx="6664719" cy="744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Pertumbuhan</a:t>
            </a:r>
            <a:r>
              <a:rPr sz="30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5" dirty="0">
                <a:solidFill>
                  <a:srgbClr val="7DD3F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Pelanggan</a:t>
            </a:r>
            <a:r>
              <a:rPr sz="3000" b="1" dirty="0">
                <a:solidFill>
                  <a:srgbClr val="7DD3F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5" dirty="0">
                <a:solidFill>
                  <a:srgbClr val="7DD3F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Baru</a:t>
            </a:r>
          </a:p>
          <a:p>
            <a:pPr marL="0" marR="0">
              <a:lnSpc>
                <a:spcPts val="1760"/>
              </a:lnSpc>
              <a:spcBef>
                <a:spcPts val="283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Analisis Januari - November 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1556" y="1554046"/>
            <a:ext cx="4797960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56" dirty="0">
                <a:solidFill>
                  <a:srgbClr val="BAE6FD"/>
                </a:solidFill>
                <a:latin typeface="DejaVu Sans"/>
                <a:cs typeface="DejaVu Sans"/>
              </a:rPr>
              <a:t>Tren</a:t>
            </a:r>
            <a:r>
              <a:rPr sz="1700" b="1" spc="34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BAE6FD"/>
                </a:solidFill>
                <a:latin typeface="DejaVu Sans"/>
                <a:cs typeface="DejaVu Sans"/>
              </a:rPr>
              <a:t>Akuisisi</a:t>
            </a:r>
            <a:r>
              <a:rPr sz="17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BAE6FD"/>
                </a:solidFill>
                <a:latin typeface="DejaVu Sans"/>
                <a:cs typeface="DejaVu Sans"/>
              </a:rPr>
              <a:t>Customer</a:t>
            </a:r>
            <a:r>
              <a:rPr sz="17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BAE6FD"/>
                </a:solidFill>
                <a:latin typeface="DejaVu Sans"/>
                <a:cs typeface="DejaVu Sans"/>
              </a:rPr>
              <a:t>Baru</a:t>
            </a:r>
            <a:r>
              <a:rPr sz="17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BAE6FD"/>
                </a:solidFill>
                <a:latin typeface="DejaVu Sans"/>
                <a:cs typeface="DejaVu Sans"/>
              </a:rPr>
              <a:t>(Jan</a:t>
            </a:r>
            <a:r>
              <a:rPr sz="1700" b="1" spc="-1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BAE6FD"/>
                </a:solidFill>
                <a:latin typeface="DejaVu Sans"/>
                <a:cs typeface="DejaVu Sans"/>
              </a:rPr>
              <a:t>-</a:t>
            </a:r>
            <a:r>
              <a:rPr sz="1700" b="1" spc="-15" dirty="0">
                <a:solidFill>
                  <a:srgbClr val="BAE6FD"/>
                </a:solidFill>
                <a:latin typeface="DejaVu Sans"/>
                <a:cs typeface="DejaVu Sans"/>
              </a:rPr>
              <a:t> Nov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4" dirty="0">
                <a:solidFill>
                  <a:srgbClr val="BAE6FD"/>
                </a:solidFill>
                <a:latin typeface="DejaVu Sans"/>
                <a:cs typeface="DejaVu Sans"/>
              </a:rPr>
              <a:t>2019)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62501" y="993696"/>
            <a:ext cx="3745739" cy="99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-12" dirty="0">
                <a:solidFill>
                  <a:srgbClr val="BAE6FD"/>
                </a:solidFill>
                <a:latin typeface="DejaVu Sans"/>
                <a:cs typeface="DejaVu Sans"/>
              </a:rPr>
              <a:t>Perbandingan</a:t>
            </a:r>
            <a:r>
              <a:rPr sz="16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600" b="1" spc="-14" dirty="0">
                <a:solidFill>
                  <a:srgbClr val="BAE6FD"/>
                </a:solidFill>
                <a:latin typeface="DejaVu Sans"/>
                <a:cs typeface="DejaVu Sans"/>
              </a:rPr>
              <a:t>Ukuran</a:t>
            </a:r>
            <a:r>
              <a:rPr sz="16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600" b="1" spc="-20" dirty="0">
                <a:solidFill>
                  <a:srgbClr val="BAE6FD"/>
                </a:solidFill>
                <a:latin typeface="DejaVu Sans"/>
                <a:cs typeface="DejaVu Sans"/>
              </a:rPr>
              <a:t>Kohort</a:t>
            </a:r>
          </a:p>
          <a:p>
            <a:pPr marL="213270" marR="0">
              <a:spcBef>
                <a:spcPts val="1075"/>
              </a:spcBef>
              <a:spcAft>
                <a:spcPts val="0"/>
              </a:spcAft>
            </a:pPr>
            <a:r>
              <a:rPr sz="1400" spc="-11" dirty="0">
                <a:solidFill>
                  <a:srgbClr val="FFFFFF"/>
                </a:solidFill>
                <a:latin typeface="DejaVu Sans"/>
                <a:cs typeface="DejaVu Sans"/>
              </a:rPr>
              <a:t>Awal</a:t>
            </a:r>
            <a:r>
              <a:rPr sz="1400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400" dirty="0">
                <a:solidFill>
                  <a:srgbClr val="FFFFFF"/>
                </a:solidFill>
                <a:latin typeface="DejaVu Sans"/>
                <a:cs typeface="DejaVu Sans"/>
              </a:rPr>
              <a:t>Periode</a:t>
            </a:r>
            <a:r>
              <a:rPr sz="1400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400" dirty="0">
                <a:solidFill>
                  <a:srgbClr val="FFFFFF"/>
                </a:solidFill>
                <a:latin typeface="DejaVu Sans"/>
                <a:cs typeface="DejaVu Sans"/>
              </a:rPr>
              <a:t>(Jan): </a:t>
            </a:r>
            <a:r>
              <a:rPr sz="1400" b="1" dirty="0">
                <a:solidFill>
                  <a:srgbClr val="86EFAC"/>
                </a:solidFill>
                <a:latin typeface="DejaVu Sans"/>
                <a:cs typeface="DejaVu Sans"/>
              </a:rPr>
              <a:t>365</a:t>
            </a:r>
            <a:r>
              <a:rPr sz="1400" b="1" spc="105" dirty="0">
                <a:solidFill>
                  <a:srgbClr val="86EFA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DejaVu Sans"/>
                <a:cs typeface="DejaVu Sans"/>
              </a:rPr>
              <a:t>Customer</a:t>
            </a:r>
          </a:p>
          <a:p>
            <a:pPr marL="213270" marR="0">
              <a:spcBef>
                <a:spcPts val="1314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DejaVu Sans"/>
                <a:cs typeface="DejaVu Sans"/>
              </a:rPr>
              <a:t>Akhir Periode</a:t>
            </a:r>
            <a:r>
              <a:rPr sz="1400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400" dirty="0">
                <a:solidFill>
                  <a:srgbClr val="FFFFFF"/>
                </a:solidFill>
                <a:latin typeface="DejaVu Sans"/>
                <a:cs typeface="DejaVu Sans"/>
              </a:rPr>
              <a:t>(Nov): </a:t>
            </a:r>
            <a:r>
              <a:rPr sz="1400" b="1" dirty="0">
                <a:solidFill>
                  <a:srgbClr val="FCA5A5"/>
                </a:solidFill>
                <a:latin typeface="DejaVu Sans"/>
                <a:cs typeface="DejaVu Sans"/>
              </a:rPr>
              <a:t>301</a:t>
            </a:r>
            <a:r>
              <a:rPr sz="1400" b="1" spc="105" dirty="0">
                <a:solidFill>
                  <a:srgbClr val="FCA5A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DejaVu Sans"/>
                <a:cs typeface="DejaVu Sans"/>
              </a:rPr>
              <a:t>Customer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53188" y="2421696"/>
            <a:ext cx="524428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BAE6FD"/>
                </a:solidFill>
                <a:latin typeface="DejaVu Sans"/>
                <a:cs typeface="DejaVu Sans"/>
              </a:rPr>
              <a:t>Tingkat</a:t>
            </a:r>
            <a:r>
              <a:rPr sz="17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BAE6FD"/>
                </a:solidFill>
                <a:latin typeface="DejaVu Sans"/>
                <a:cs typeface="DejaVu Sans"/>
              </a:rPr>
              <a:t>Pertumbuhan</a:t>
            </a:r>
            <a:r>
              <a:rPr sz="17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2" dirty="0" err="1">
                <a:solidFill>
                  <a:srgbClr val="BAE6FD"/>
                </a:solidFill>
                <a:latin typeface="DejaVu Sans"/>
                <a:cs typeface="DejaVu Sans"/>
              </a:rPr>
              <a:t>Bulanan</a:t>
            </a:r>
            <a:r>
              <a:rPr lang="en-US" sz="1700" b="1" spc="-12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BAE6FD"/>
                </a:solidFill>
                <a:latin typeface="DejaVu Sans"/>
                <a:cs typeface="DejaVu Sans"/>
              </a:rPr>
              <a:t>(CAGR)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53188" y="2771719"/>
            <a:ext cx="1644148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F87171"/>
                </a:solidFill>
                <a:latin typeface="DejaVu Sans"/>
                <a:cs typeface="DejaVu Sans"/>
              </a:rPr>
              <a:t>-0.27%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55544" y="3964174"/>
            <a:ext cx="42734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9CA3AF"/>
                </a:solidFill>
                <a:latin typeface="DejaVu Sans"/>
                <a:cs typeface="DejaVu Sans"/>
              </a:rPr>
              <a:t>Mengindikasikan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perlambatan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9CA3AF"/>
                </a:solidFill>
                <a:latin typeface="DejaVu Sans"/>
                <a:cs typeface="DejaVu Sans"/>
              </a:rPr>
              <a:t>akuisisi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pelanggan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baru.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18476" y="4596965"/>
            <a:ext cx="241689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BAE6FD"/>
                </a:solidFill>
                <a:latin typeface="DejaVu Sans"/>
                <a:cs typeface="DejaVu Sans"/>
              </a:rPr>
              <a:t>Implikasi</a:t>
            </a:r>
            <a:r>
              <a:rPr sz="1700" b="1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BAE6FD"/>
                </a:solidFill>
                <a:latin typeface="DejaVu Sans"/>
                <a:cs typeface="DejaVu Sans"/>
              </a:rPr>
              <a:t>Strategis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69031" y="4918205"/>
            <a:ext cx="2337491" cy="126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"Pertumbuhan pelanggan</a:t>
            </a:r>
          </a:p>
          <a:p>
            <a:pPr marL="0" marR="0" algn="just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baru melambat. </a:t>
            </a:r>
            <a:r>
              <a:rPr sz="1350" spc="-15" dirty="0">
                <a:solidFill>
                  <a:srgbClr val="E5E7EB"/>
                </a:solidFill>
                <a:latin typeface="DejaVu Sans"/>
                <a:cs typeface="DejaVu Sans"/>
              </a:rPr>
              <a:t>Perlu</a:t>
            </a:r>
          </a:p>
          <a:p>
            <a:pPr marL="0" marR="0" algn="just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evaluasi strategis untuk</a:t>
            </a:r>
          </a:p>
          <a:p>
            <a:pPr marL="0" marR="0" algn="just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mendorong akuisisi di</a:t>
            </a:r>
          </a:p>
          <a:p>
            <a:pPr marL="0" marR="0" algn="just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masa mendatang."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CE0E06-5854-4424-B144-CE81A583C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3966" y="-233235"/>
            <a:ext cx="1678437" cy="1386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6000" y="0"/>
            <a:ext cx="12204000" cy="687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0999" y="345701"/>
            <a:ext cx="8470066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72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Tren</a:t>
            </a:r>
            <a:r>
              <a:rPr sz="3000" b="1" spc="97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4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Penjualan</a:t>
            </a:r>
            <a:r>
              <a:rPr sz="3000" b="1" spc="1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sz="3000" b="1" spc="28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5" dirty="0">
                <a:solidFill>
                  <a:srgbClr val="ADD8E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Pendapatan</a:t>
            </a:r>
            <a:r>
              <a:rPr sz="3000" b="1" dirty="0">
                <a:solidFill>
                  <a:srgbClr val="ADD8E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5" dirty="0">
                <a:solidFill>
                  <a:srgbClr val="ADD8E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Bulanan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43703" y="345701"/>
            <a:ext cx="419620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ADD8E6"/>
                </a:solidFill>
                <a:latin typeface="DejaVu Sans"/>
                <a:cs typeface="DejaVu Sans"/>
              </a:rPr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4947" y="1135948"/>
            <a:ext cx="7102169" cy="2349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-18" dirty="0">
                <a:solidFill>
                  <a:srgbClr val="D1D5DB"/>
                </a:solidFill>
                <a:latin typeface="DejaVu Sans"/>
                <a:cs typeface="DejaVu Sans"/>
              </a:rPr>
              <a:t>Perkembangan</a:t>
            </a:r>
            <a:r>
              <a:rPr sz="1400" b="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400" b="1" spc="-14" dirty="0">
                <a:solidFill>
                  <a:srgbClr val="D1D5DB"/>
                </a:solidFill>
                <a:latin typeface="DejaVu Sans"/>
                <a:cs typeface="DejaVu Sans"/>
              </a:rPr>
              <a:t>Pendapatan</a:t>
            </a:r>
            <a:r>
              <a:rPr sz="1400" b="1" dirty="0">
                <a:solidFill>
                  <a:srgbClr val="D1D5DB"/>
                </a:solidFill>
                <a:latin typeface="DejaVu Sans"/>
                <a:cs typeface="DejaVu Sans"/>
              </a:rPr>
              <a:t> &amp;</a:t>
            </a:r>
            <a:r>
              <a:rPr sz="1400" b="1" spc="-2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400" b="1" spc="-18" dirty="0">
                <a:solidFill>
                  <a:srgbClr val="D1D5DB"/>
                </a:solidFill>
                <a:latin typeface="DejaVu Sans"/>
                <a:cs typeface="DejaVu Sans"/>
              </a:rPr>
              <a:t>GMV</a:t>
            </a:r>
            <a:r>
              <a:rPr sz="1400" b="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400" b="1" spc="-14" dirty="0">
                <a:solidFill>
                  <a:srgbClr val="D1D5DB"/>
                </a:solidFill>
                <a:latin typeface="DejaVu Sans"/>
                <a:cs typeface="DejaVu Sans"/>
              </a:rPr>
              <a:t>(Des</a:t>
            </a:r>
            <a:r>
              <a:rPr sz="1400" b="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400" b="1" spc="-14" dirty="0">
                <a:solidFill>
                  <a:srgbClr val="D1D5DB"/>
                </a:solidFill>
                <a:latin typeface="DejaVu Sans"/>
                <a:cs typeface="DejaVu Sans"/>
              </a:rPr>
              <a:t>2018</a:t>
            </a:r>
            <a:r>
              <a:rPr sz="1400" b="1" dirty="0">
                <a:solidFill>
                  <a:srgbClr val="D1D5DB"/>
                </a:solidFill>
                <a:latin typeface="DejaVu Sans"/>
                <a:cs typeface="DejaVu Sans"/>
              </a:rPr>
              <a:t> -</a:t>
            </a:r>
            <a:r>
              <a:rPr sz="1400" b="1" spc="-15" dirty="0">
                <a:solidFill>
                  <a:srgbClr val="D1D5DB"/>
                </a:solidFill>
                <a:latin typeface="DejaVu Sans"/>
                <a:cs typeface="DejaVu Sans"/>
              </a:rPr>
              <a:t> Des</a:t>
            </a:r>
            <a:r>
              <a:rPr sz="1400" b="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400" b="1" spc="-14" dirty="0">
                <a:solidFill>
                  <a:srgbClr val="D1D5DB"/>
                </a:solidFill>
                <a:latin typeface="DejaVu Sans"/>
                <a:cs typeface="DejaVu Sans"/>
              </a:rPr>
              <a:t>2019)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82787" y="1253416"/>
            <a:ext cx="274259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Pendapatan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36" dirty="0">
                <a:solidFill>
                  <a:srgbClr val="FFFFFF"/>
                </a:solidFill>
                <a:latin typeface="DejaVu Sans"/>
                <a:cs typeface="DejaVu Sans"/>
              </a:rPr>
              <a:t>Tertinggi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22778" y="1722403"/>
            <a:ext cx="365128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Nov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2019:</a:t>
            </a:r>
            <a:r>
              <a:rPr lang="en-US"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3.442.520,33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491052" y="2296288"/>
            <a:ext cx="117373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A2342"/>
                </a:solidFill>
                <a:latin typeface="DejaVu Sans"/>
                <a:cs typeface="DejaVu Sans"/>
              </a:rPr>
              <a:t>Revenue Peak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32055" y="3041270"/>
            <a:ext cx="3744416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56" dirty="0">
                <a:solidFill>
                  <a:srgbClr val="FFFFFF"/>
                </a:solidFill>
                <a:latin typeface="DejaVu Sans"/>
                <a:cs typeface="DejaVu Sans"/>
              </a:rPr>
              <a:t>Tren</a:t>
            </a:r>
            <a:r>
              <a:rPr sz="1700" b="1" spc="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 err="1">
                <a:solidFill>
                  <a:srgbClr val="FFFFFF"/>
                </a:solidFill>
                <a:latin typeface="DejaVu Sans"/>
                <a:cs typeface="DejaVu Sans"/>
              </a:rPr>
              <a:t>Pendapatan</a:t>
            </a:r>
            <a:r>
              <a:rPr lang="en-US"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Harian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13440" y="3415887"/>
            <a:ext cx="3242006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Meningkat secara progresif</a:t>
            </a:r>
          </a:p>
          <a:p>
            <a:pPr marL="0" marR="0">
              <a:lnSpc>
                <a:spcPts val="2346"/>
              </a:lnSpc>
              <a:spcBef>
                <a:spcPts val="597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Slope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+309.34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/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 err="1">
                <a:solidFill>
                  <a:srgbClr val="FFFFFF"/>
                </a:solidFill>
                <a:latin typeface="DejaVu Sans"/>
                <a:cs typeface="DejaVu Sans"/>
              </a:rPr>
              <a:t>hari</a:t>
            </a:r>
            <a:endParaRPr sz="2000" b="1" spc="10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0774" y="4927028"/>
            <a:ext cx="235597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56" dirty="0">
                <a:solidFill>
                  <a:srgbClr val="FFFFFF"/>
                </a:solidFill>
                <a:latin typeface="DejaVu Sans"/>
                <a:cs typeface="DejaVu Sans"/>
              </a:rPr>
              <a:t>Tren</a:t>
            </a:r>
            <a:r>
              <a:rPr sz="1700" b="1" spc="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FFFFFF"/>
                </a:solidFill>
                <a:latin typeface="DejaVu Sans"/>
                <a:cs typeface="DejaVu Sans"/>
              </a:rPr>
              <a:t>GMV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Bulanan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02487" y="5229200"/>
            <a:ext cx="3242015" cy="946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Puncak pada November 2019</a:t>
            </a:r>
          </a:p>
          <a:p>
            <a:pPr marL="0" marR="0">
              <a:lnSpc>
                <a:spcPts val="2346"/>
              </a:lnSpc>
              <a:spcBef>
                <a:spcPts val="597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Rp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3.498.547</a:t>
            </a:r>
          </a:p>
          <a:p>
            <a:pPr marL="2361455" marR="0">
              <a:lnSpc>
                <a:spcPts val="1173"/>
              </a:lnSpc>
              <a:spcBef>
                <a:spcPts val="1324"/>
              </a:spcBef>
              <a:spcAft>
                <a:spcPts val="0"/>
              </a:spcAft>
            </a:pPr>
            <a:r>
              <a:rPr sz="1000" b="1" dirty="0">
                <a:solidFill>
                  <a:srgbClr val="0A2342"/>
                </a:solidFill>
                <a:latin typeface="DejaVu Sans"/>
                <a:cs typeface="DejaVu Sans"/>
              </a:rPr>
              <a:t>GMV Peak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DABB56-61C4-F53C-63AB-6BCE032AC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3966" y="-118137"/>
            <a:ext cx="1678437" cy="1386897"/>
          </a:xfrm>
          <a:prstGeom prst="rect">
            <a:avLst/>
          </a:prstGeom>
        </p:spPr>
      </p:pic>
      <p:sp>
        <p:nvSpPr>
          <p:cNvPr id="16" name="object 10">
            <a:extLst>
              <a:ext uri="{FF2B5EF4-FFF2-40B4-BE49-F238E27FC236}">
                <a16:creationId xmlns:a16="http://schemas.microsoft.com/office/drawing/2014/main" id="{5F2142C9-FE63-F6B3-FC3F-2355925158D2}"/>
              </a:ext>
            </a:extLst>
          </p:cNvPr>
          <p:cNvSpPr txBox="1"/>
          <p:nvPr/>
        </p:nvSpPr>
        <p:spPr>
          <a:xfrm>
            <a:off x="8422778" y="4214388"/>
            <a:ext cx="324200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4584" marR="0">
              <a:lnSpc>
                <a:spcPts val="1173"/>
              </a:lnSpc>
              <a:spcBef>
                <a:spcPts val="1324"/>
              </a:spcBef>
              <a:spcAft>
                <a:spcPts val="0"/>
              </a:spcAft>
            </a:pPr>
            <a:r>
              <a:rPr sz="1000" b="1" dirty="0">
                <a:solidFill>
                  <a:srgbClr val="0A2342"/>
                </a:solidFill>
                <a:latin typeface="DejaVu Sans"/>
                <a:cs typeface="DejaVu Sans"/>
              </a:rPr>
              <a:t>Daily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" y="3"/>
            <a:ext cx="12204000" cy="687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0999" y="356369"/>
            <a:ext cx="10886195" cy="422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-72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Tren</a:t>
            </a:r>
            <a:r>
              <a:rPr sz="2800" b="1" spc="97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800" b="1" spc="14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Penjualan</a:t>
            </a:r>
            <a:r>
              <a:rPr sz="2800" b="1" spc="1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8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sz="2800" b="1" spc="28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800" b="1" spc="15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Pendapatan</a:t>
            </a:r>
            <a:r>
              <a:rPr sz="28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800" b="1" spc="14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Harian</a:t>
            </a:r>
            <a:r>
              <a:rPr sz="2800" b="1" spc="1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sz="2800" b="1" spc="28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800" b="1" spc="15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Mingguan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6843" y="1354514"/>
            <a:ext cx="2636878" cy="633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Pendapatan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Rata-rata Harian</a:t>
            </a:r>
          </a:p>
          <a:p>
            <a:pPr marL="0" marR="0">
              <a:lnSpc>
                <a:spcPts val="2850"/>
              </a:lnSpc>
              <a:spcBef>
                <a:spcPts val="194"/>
              </a:spcBef>
              <a:spcAft>
                <a:spcPts val="0"/>
              </a:spcAft>
            </a:pPr>
            <a:r>
              <a:rPr sz="2500" b="1" spc="10" dirty="0">
                <a:solidFill>
                  <a:srgbClr val="ADD8E6"/>
                </a:solidFill>
                <a:latin typeface="DejaVu Sans"/>
                <a:cs typeface="DejaVu Sans"/>
              </a:rPr>
              <a:t>201.936,18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32065" y="1353005"/>
            <a:ext cx="360072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Detail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Performa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Hari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Minggu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60057" y="1772816"/>
            <a:ext cx="148959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Rata-rata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Order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46046" y="1772816"/>
            <a:ext cx="152379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ADD8E6"/>
                </a:solidFill>
                <a:latin typeface="DejaVu Sans"/>
                <a:cs typeface="DejaVu Sans"/>
              </a:rPr>
              <a:t>103.32 / hari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16843" y="2022019"/>
            <a:ext cx="290744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4A3B8"/>
                </a:solidFill>
                <a:latin typeface="DejaVu Sans"/>
                <a:cs typeface="DejaVu Sans"/>
              </a:rPr>
              <a:t>Indikator</a:t>
            </a:r>
            <a:r>
              <a:rPr sz="1200" dirty="0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94A3B8"/>
                </a:solidFill>
                <a:latin typeface="DejaVu Sans"/>
                <a:cs typeface="DejaVu Sans"/>
              </a:rPr>
              <a:t>performa</a:t>
            </a:r>
            <a:r>
              <a:rPr sz="1200" dirty="0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4A3B8"/>
                </a:solidFill>
                <a:latin typeface="DejaVu Sans"/>
                <a:cs typeface="DejaVu Sans"/>
              </a:rPr>
              <a:t>penjualan</a:t>
            </a:r>
            <a:r>
              <a:rPr sz="1200" spc="-10" dirty="0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94A3B8"/>
                </a:solidFill>
                <a:latin typeface="DejaVu Sans"/>
                <a:cs typeface="DejaVu Sans"/>
              </a:rPr>
              <a:t>umum.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0057" y="2400121"/>
            <a:ext cx="174769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Rata-rata </a:t>
            </a:r>
            <a:r>
              <a:rPr sz="1350" spc="-14" dirty="0">
                <a:solidFill>
                  <a:srgbClr val="FFFFFF"/>
                </a:solidFill>
                <a:latin typeface="DejaVu Sans"/>
                <a:cs typeface="DejaVu Sans"/>
              </a:rPr>
              <a:t>Revenue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72326" y="2348880"/>
            <a:ext cx="199748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ADD8E6"/>
                </a:solidFill>
                <a:latin typeface="DejaVu Sans"/>
                <a:cs typeface="DejaVu Sans"/>
              </a:rPr>
              <a:t>267.752,40 / hari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01787" y="2847217"/>
            <a:ext cx="2816526" cy="643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Hari </a:t>
            </a:r>
            <a:r>
              <a:rPr sz="1350" spc="-10" dirty="0">
                <a:solidFill>
                  <a:srgbClr val="CBD5E1"/>
                </a:solidFill>
                <a:latin typeface="DejaVu Sans"/>
                <a:cs typeface="DejaVu Sans"/>
              </a:rPr>
              <a:t>Order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&amp; </a:t>
            </a:r>
            <a:r>
              <a:rPr sz="1350" spc="-14" dirty="0">
                <a:solidFill>
                  <a:srgbClr val="CBD5E1"/>
                </a:solidFill>
                <a:latin typeface="DejaVu Sans"/>
                <a:cs typeface="DejaVu Sans"/>
              </a:rPr>
              <a:t>Revenue</a:t>
            </a:r>
            <a:r>
              <a:rPr sz="1350" dirty="0">
                <a:solidFill>
                  <a:srgbClr val="CBD5E1"/>
                </a:solidFill>
                <a:latin typeface="DejaVu Sans"/>
                <a:cs typeface="DejaVu Sans"/>
              </a:rPr>
              <a:t> </a:t>
            </a:r>
            <a:r>
              <a:rPr sz="1350" spc="-28" dirty="0">
                <a:solidFill>
                  <a:srgbClr val="CBD5E1"/>
                </a:solidFill>
                <a:latin typeface="DejaVu Sans"/>
                <a:cs typeface="DejaVu Sans"/>
              </a:rPr>
              <a:t>Tertinggi</a:t>
            </a:r>
          </a:p>
          <a:p>
            <a:pPr marL="0" marR="0">
              <a:lnSpc>
                <a:spcPts val="2925"/>
              </a:lnSpc>
              <a:spcBef>
                <a:spcPts val="269"/>
              </a:spcBef>
              <a:spcAft>
                <a:spcPts val="0"/>
              </a:spcAft>
            </a:pPr>
            <a:r>
              <a:rPr sz="2500" b="1" spc="12" dirty="0">
                <a:solidFill>
                  <a:srgbClr val="ADD8E6"/>
                </a:solidFill>
                <a:latin typeface="DejaVu Sans"/>
                <a:cs typeface="DejaVu Sans"/>
              </a:rPr>
              <a:t>Minggu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01787" y="3478656"/>
            <a:ext cx="34979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94A3B8"/>
                </a:solidFill>
                <a:latin typeface="DejaVu Sans"/>
                <a:cs typeface="DejaVu Sans"/>
              </a:rPr>
              <a:t>Puncak</a:t>
            </a:r>
            <a:r>
              <a:rPr sz="1200" dirty="0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94A3B8"/>
                </a:solidFill>
                <a:latin typeface="DejaVu Sans"/>
                <a:cs typeface="DejaVu Sans"/>
              </a:rPr>
              <a:t>aktivitas</a:t>
            </a:r>
            <a:r>
              <a:rPr sz="1200" dirty="0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4A3B8"/>
                </a:solidFill>
                <a:latin typeface="DejaVu Sans"/>
                <a:cs typeface="DejaVu Sans"/>
              </a:rPr>
              <a:t>penjualan</a:t>
            </a:r>
            <a:r>
              <a:rPr sz="1200" spc="-10" dirty="0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4A3B8"/>
                </a:solidFill>
                <a:latin typeface="DejaVu Sans"/>
                <a:cs typeface="DejaVu Sans"/>
              </a:rPr>
              <a:t>dalam</a:t>
            </a:r>
            <a:r>
              <a:rPr sz="1200" spc="-18" dirty="0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4A3B8"/>
                </a:solidFill>
                <a:latin typeface="DejaVu Sans"/>
                <a:cs typeface="DejaVu Sans"/>
              </a:rPr>
              <a:t>seminggu.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03809" y="3782668"/>
            <a:ext cx="503050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Perbandingan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Rata-rata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Revenue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Harian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7448" y="4349445"/>
            <a:ext cx="184956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Insight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Utama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15343" y="4735366"/>
            <a:ext cx="4808753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2E8F0"/>
                </a:solidFill>
                <a:latin typeface="DejaVu Sans"/>
                <a:cs typeface="DejaVu Sans"/>
              </a:rPr>
              <a:t>Analisis menunjukkan bahwa </a:t>
            </a:r>
            <a:r>
              <a:rPr sz="1350" b="1" spc="-17" dirty="0">
                <a:solidFill>
                  <a:srgbClr val="FFFFFF"/>
                </a:solidFill>
                <a:latin typeface="DejaVu Sans"/>
                <a:cs typeface="DejaVu Sans"/>
              </a:rPr>
              <a:t>Weekend</a:t>
            </a:r>
            <a:r>
              <a:rPr sz="1350" dirty="0">
                <a:solidFill>
                  <a:srgbClr val="E2E8F0"/>
                </a:solidFill>
                <a:latin typeface="DejaVu Sans"/>
                <a:cs typeface="DejaVu Sans"/>
              </a:rPr>
              <a:t>, khususnya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Minggu</a:t>
            </a:r>
            <a:r>
              <a:rPr sz="1350" dirty="0">
                <a:solidFill>
                  <a:srgbClr val="E2E8F0"/>
                </a:solidFill>
                <a:latin typeface="DejaVu Sans"/>
                <a:cs typeface="DejaVu Sans"/>
              </a:rPr>
              <a:t>, adalah momen puncak aktivitas yang krusial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E2E8F0"/>
                </a:solidFill>
                <a:latin typeface="DejaVu Sans"/>
                <a:cs typeface="DejaVu Sans"/>
              </a:rPr>
              <a:t>untuk strategi penjualan.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CCE640-E39C-9FBC-C744-36109EF66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3966" y="-118137"/>
            <a:ext cx="1678437" cy="1386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07368" y="221471"/>
            <a:ext cx="7660501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Analisis</a:t>
            </a:r>
            <a:r>
              <a:rPr sz="3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4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Produk</a:t>
            </a:r>
            <a:r>
              <a:rPr sz="3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-18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Terlaris</a:t>
            </a:r>
            <a:r>
              <a:rPr lang="en-US" sz="3000" b="1" spc="-18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5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sz="2500" b="1" spc="18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25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Sensitivitas </a:t>
            </a:r>
            <a:r>
              <a:rPr sz="2500" b="1" spc="1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Harga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0549" y="1330850"/>
            <a:ext cx="294910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Produk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Paling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Sering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Dibeli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03540" y="1330850"/>
            <a:ext cx="210823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Produk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Peka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Harga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1768471"/>
            <a:ext cx="4697381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ADD8E6"/>
                </a:solidFill>
                <a:latin typeface="Liberation Sans"/>
                <a:cs typeface="Liberation Sans"/>
              </a:rPr>
              <a:t>'Cream</a:t>
            </a:r>
            <a:r>
              <a:rPr sz="2000" b="1" spc="10" dirty="0">
                <a:solidFill>
                  <a:srgbClr val="ADD8E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ADD8E6"/>
                </a:solidFill>
                <a:latin typeface="Liberation Sans"/>
                <a:cs typeface="Liberation Sans"/>
              </a:rPr>
              <a:t>Hanging Heart </a:t>
            </a:r>
            <a:r>
              <a:rPr sz="2000" b="1" spc="-10" dirty="0">
                <a:solidFill>
                  <a:srgbClr val="ADD8E6"/>
                </a:solidFill>
                <a:latin typeface="Liberation Sans"/>
                <a:cs typeface="Liberation Sans"/>
              </a:rPr>
              <a:t>T-Light</a:t>
            </a:r>
            <a:r>
              <a:rPr sz="2000" b="1" spc="20" dirty="0">
                <a:solidFill>
                  <a:srgbClr val="ADD8E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ADD8E6"/>
                </a:solidFill>
                <a:latin typeface="Liberation Sans"/>
                <a:cs typeface="Liberation Sans"/>
              </a:rPr>
              <a:t>Holder'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4548" y="1768471"/>
            <a:ext cx="2450395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ADD8E6"/>
                </a:solidFill>
                <a:latin typeface="Liberation Sans"/>
                <a:cs typeface="Liberation Sans"/>
              </a:rPr>
              <a:t>'6 Ribbons Empire'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2114" y="2245780"/>
            <a:ext cx="113858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A2342"/>
                </a:solidFill>
                <a:latin typeface="Liberation Sans"/>
                <a:cs typeface="Liberation Sans"/>
              </a:rPr>
              <a:t>1</a:t>
            </a:r>
            <a:r>
              <a:rPr lang="en-US" sz="1350" b="1" dirty="0">
                <a:solidFill>
                  <a:srgbClr val="0A2342"/>
                </a:solidFill>
                <a:latin typeface="Liberation Sans"/>
                <a:cs typeface="Liberation Sans"/>
              </a:rPr>
              <a:t>.</a:t>
            </a:r>
            <a:r>
              <a:rPr sz="1350" b="1" dirty="0">
                <a:solidFill>
                  <a:srgbClr val="0A2342"/>
                </a:solidFill>
                <a:latin typeface="Liberation Sans"/>
                <a:cs typeface="Liberation Sans"/>
              </a:rPr>
              <a:t>021 Orders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65105" y="2245780"/>
            <a:ext cx="2038761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991B1B"/>
                </a:solidFill>
                <a:latin typeface="Liberation Sans"/>
                <a:cs typeface="Liberation Sans"/>
              </a:rPr>
              <a:t>Korelasi Negatif: -0.522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07244" y="4512200"/>
            <a:ext cx="248677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Kontribusi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Pendapatan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55047" y="4750590"/>
            <a:ext cx="4362571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i="1" dirty="0">
                <a:solidFill>
                  <a:srgbClr val="FFFFFF"/>
                </a:solidFill>
                <a:latin typeface="Liberation Sans"/>
                <a:cs typeface="Liberation Sans"/>
              </a:rPr>
              <a:t>Setiap kenaikan harga 1</a:t>
            </a:r>
            <a:r>
              <a:rPr sz="1500" i="1" spc="1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i="1" dirty="0">
                <a:solidFill>
                  <a:srgbClr val="FFFFFF"/>
                </a:solidFill>
                <a:latin typeface="Liberation Sans"/>
                <a:cs typeface="Liberation Sans"/>
              </a:rPr>
              <a:t>unit, penjualan produk '6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45097" y="4830838"/>
            <a:ext cx="1611115" cy="7530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629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ADD8E6"/>
                </a:solidFill>
                <a:latin typeface="Liberation Sans"/>
                <a:cs typeface="Liberation Sans"/>
              </a:rPr>
              <a:t>5.3%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55047" y="5055390"/>
            <a:ext cx="4516876" cy="547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i="1" dirty="0">
                <a:solidFill>
                  <a:srgbClr val="FFFFFF"/>
                </a:solidFill>
                <a:latin typeface="Liberation Sans"/>
                <a:cs typeface="Liberation Sans"/>
              </a:rPr>
              <a:t>Ribbons Empire' berpotensi turun sebanyak ~1.731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sz="1500" i="1" dirty="0">
                <a:solidFill>
                  <a:srgbClr val="FFFFFF"/>
                </a:solidFill>
                <a:latin typeface="Liberation Sans"/>
                <a:cs typeface="Liberation Sans"/>
              </a:rPr>
              <a:t>unit.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49077" y="5617630"/>
            <a:ext cx="2203280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Dari</a:t>
            </a:r>
            <a:r>
              <a:rPr sz="1350" spc="-23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spc="-76" dirty="0">
                <a:solidFill>
                  <a:srgbClr val="D1D5DB"/>
                </a:solidFill>
                <a:latin typeface="Liberation Sans"/>
                <a:cs typeface="Liberation Sans"/>
              </a:rPr>
              <a:t>To</a:t>
            </a:r>
            <a:r>
              <a:rPr sz="1350" spc="-378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p 10 Produk</a:t>
            </a:r>
            <a:r>
              <a:rPr sz="1350" spc="-25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spc="-20" dirty="0">
                <a:solidFill>
                  <a:srgbClr val="D1D5DB"/>
                </a:solidFill>
                <a:latin typeface="Liberation Sans"/>
                <a:cs typeface="Liberation Sans"/>
              </a:rPr>
              <a:t>Terlaris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90FEB7-B622-1BE4-60F2-254A862E6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3966" y="-118137"/>
            <a:ext cx="1678437" cy="13868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-1"/>
            <a:ext cx="12191999" cy="687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0999" y="345701"/>
            <a:ext cx="7617319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2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Analisis</a:t>
            </a:r>
            <a:r>
              <a:rPr sz="3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5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Ukuran</a:t>
            </a:r>
            <a:r>
              <a:rPr sz="3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Keranjang</a:t>
            </a:r>
            <a:r>
              <a:rPr sz="3000" b="1" spc="17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sz="3000" b="1" spc="14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Belanja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18405" y="1139328"/>
            <a:ext cx="6379967" cy="269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6"/>
              </a:lnSpc>
            </a:pPr>
            <a:r>
              <a:rPr sz="1600" b="1" spc="-128" dirty="0">
                <a:solidFill>
                  <a:srgbClr val="FFFFFF"/>
                </a:solidFill>
                <a:latin typeface="DejaVu Sans"/>
                <a:cs typeface="DejaVu Sans"/>
              </a:rPr>
              <a:t>To</a:t>
            </a:r>
            <a:r>
              <a:rPr sz="1600" b="1" spc="-68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600" b="1" dirty="0">
                <a:solidFill>
                  <a:srgbClr val="FFFFFF"/>
                </a:solidFill>
                <a:latin typeface="DejaVu Sans"/>
                <a:cs typeface="DejaVu Sans"/>
              </a:rPr>
              <a:t>p</a:t>
            </a:r>
            <a:r>
              <a:rPr sz="1600" b="1" spc="1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600" b="1" spc="10" dirty="0">
                <a:solidFill>
                  <a:srgbClr val="FFFFFF"/>
                </a:solidFill>
                <a:latin typeface="DejaVu Sans"/>
                <a:cs typeface="DejaVu Sans"/>
              </a:rPr>
              <a:t>10</a:t>
            </a:r>
            <a:r>
              <a:rPr sz="16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600" b="1" spc="10" dirty="0">
                <a:solidFill>
                  <a:srgbClr val="FFFFFF"/>
                </a:solidFill>
                <a:latin typeface="DejaVu Sans"/>
                <a:cs typeface="DejaVu Sans"/>
              </a:rPr>
              <a:t>Negara:</a:t>
            </a:r>
            <a:r>
              <a:rPr sz="1600" b="1" dirty="0">
                <a:solidFill>
                  <a:srgbClr val="FFFFFF"/>
                </a:solidFill>
                <a:latin typeface="DejaVu Sans"/>
                <a:cs typeface="DejaVu Sans"/>
              </a:rPr>
              <a:t> Rata-rata </a:t>
            </a:r>
            <a:r>
              <a:rPr sz="1600" b="1" spc="10" dirty="0" err="1">
                <a:solidFill>
                  <a:srgbClr val="FFFFFF"/>
                </a:solidFill>
                <a:latin typeface="DejaVu Sans"/>
                <a:cs typeface="DejaVu Sans"/>
              </a:rPr>
              <a:t>Ukuran</a:t>
            </a:r>
            <a:r>
              <a:rPr lang="en-US" sz="16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en-ID" sz="1600" b="1" dirty="0" err="1">
                <a:solidFill>
                  <a:srgbClr val="FFFFFF"/>
                </a:solidFill>
                <a:latin typeface="DejaVu Sans"/>
                <a:cs typeface="DejaVu Sans"/>
              </a:rPr>
              <a:t>Keranjang</a:t>
            </a:r>
            <a:endParaRPr lang="en-ID" sz="16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3432" y="1098879"/>
            <a:ext cx="341585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Ringkasan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47" dirty="0">
                <a:solidFill>
                  <a:srgbClr val="FFFFFF"/>
                </a:solidFill>
                <a:latin typeface="DejaVu Sans"/>
                <a:cs typeface="DejaVu Sans"/>
              </a:rPr>
              <a:t>Tren</a:t>
            </a:r>
            <a:r>
              <a:rPr sz="2000" b="1" spc="6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Harian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80051" y="1493228"/>
            <a:ext cx="1631834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endParaRPr sz="2000" b="1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1556" y="1395787"/>
            <a:ext cx="514114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Ukuran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Keranjang</a:t>
            </a:r>
            <a:r>
              <a:rPr sz="1500" spc="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Belanja </a:t>
            </a:r>
            <a:r>
              <a:rPr sz="1500" dirty="0" err="1">
                <a:solidFill>
                  <a:srgbClr val="D1D5DB"/>
                </a:solidFill>
                <a:latin typeface="DejaVu Sans"/>
                <a:cs typeface="DejaVu Sans"/>
              </a:rPr>
              <a:t>menunjukkan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 err="1">
                <a:solidFill>
                  <a:srgbClr val="D1D5DB"/>
                </a:solidFill>
                <a:latin typeface="DejaVu Sans"/>
                <a:cs typeface="DejaVu Sans"/>
              </a:rPr>
              <a:t>tren</a:t>
            </a:r>
            <a:r>
              <a:rPr lang="en-US" sz="15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lang="en-ID" sz="1500" dirty="0" err="1">
                <a:solidFill>
                  <a:srgbClr val="FFFFFF"/>
                </a:solidFill>
                <a:latin typeface="DejaVu Sans"/>
                <a:cs typeface="DejaVu Sans"/>
              </a:rPr>
              <a:t>peningkatan</a:t>
            </a:r>
            <a:r>
              <a:rPr lang="en-ID" sz="1500" dirty="0">
                <a:solidFill>
                  <a:srgbClr val="FFFFFF"/>
                </a:solidFill>
                <a:latin typeface="DejaVu Sans"/>
                <a:cs typeface="DejaVu Sans"/>
              </a:rPr>
              <a:t> yang </a:t>
            </a:r>
            <a:r>
              <a:rPr lang="en-ID" sz="1500" dirty="0" err="1">
                <a:solidFill>
                  <a:srgbClr val="FFFFFF"/>
                </a:solidFill>
                <a:latin typeface="DejaVu Sans"/>
                <a:cs typeface="DejaVu Sans"/>
              </a:rPr>
              <a:t>stabil</a:t>
            </a:r>
            <a:r>
              <a:rPr lang="en-ID" sz="1500" dirty="0">
                <a:solidFill>
                  <a:srgbClr val="D1D5DB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9416" y="2088938"/>
            <a:ext cx="205680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A2342"/>
                </a:solidFill>
                <a:latin typeface="DejaVu Sans"/>
                <a:cs typeface="DejaVu Sans"/>
              </a:rPr>
              <a:t>Slope: 1.62 per hari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1397" y="3086167"/>
            <a:ext cx="413850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Rata-rata Ukuran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Keranjang</a:t>
            </a:r>
            <a:r>
              <a:rPr sz="1500" spc="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Harian (AOV)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64729" y="3351074"/>
            <a:ext cx="1772102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3,214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22785" y="3934647"/>
            <a:ext cx="145574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9CA3AF"/>
                </a:solidFill>
                <a:latin typeface="DejaVu Sans"/>
                <a:cs typeface="DejaVu Sans"/>
              </a:rPr>
              <a:t>Unit / </a:t>
            </a:r>
            <a:r>
              <a:rPr sz="1350" spc="-25" dirty="0">
                <a:solidFill>
                  <a:srgbClr val="9CA3AF"/>
                </a:solidFill>
                <a:latin typeface="DejaVu Sans"/>
                <a:cs typeface="DejaVu Sans"/>
              </a:rPr>
              <a:t>Transaksi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94548" y="4281674"/>
            <a:ext cx="384669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Perbedaan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Regional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Signiﬁkan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92336" y="4551417"/>
            <a:ext cx="55341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4"/>
              </a:lnSpc>
            </a:pPr>
            <a:r>
              <a:rPr sz="1350" spc="-34" dirty="0">
                <a:solidFill>
                  <a:srgbClr val="D1D5DB"/>
                </a:solidFill>
                <a:latin typeface="DejaVu Sans"/>
                <a:cs typeface="DejaVu Sans"/>
              </a:rPr>
              <a:t>Terdapat</a:t>
            </a:r>
            <a:r>
              <a:rPr sz="1350" spc="3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variasi yang sangat besar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dalam rata-rata </a:t>
            </a:r>
            <a:r>
              <a:rPr sz="1350" spc="-11" dirty="0" err="1">
                <a:solidFill>
                  <a:srgbClr val="D1D5DB"/>
                </a:solidFill>
                <a:latin typeface="DejaVu Sans"/>
                <a:cs typeface="DejaVu Sans"/>
              </a:rPr>
              <a:t>ukuran</a:t>
            </a:r>
            <a:r>
              <a:rPr lang="en-US" sz="1350" spc="-1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lang="en-ID" sz="1350" spc="-10" dirty="0" err="1">
                <a:solidFill>
                  <a:srgbClr val="D1D5DB"/>
                </a:solidFill>
                <a:latin typeface="DejaVu Sans"/>
                <a:cs typeface="DejaVu Sans"/>
              </a:rPr>
              <a:t>keranjang</a:t>
            </a:r>
            <a:r>
              <a:rPr lang="en-ID" sz="135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lang="en-ID" sz="1350" dirty="0" err="1">
                <a:solidFill>
                  <a:srgbClr val="D1D5DB"/>
                </a:solidFill>
                <a:latin typeface="DejaVu Sans"/>
                <a:cs typeface="DejaVu Sans"/>
              </a:rPr>
              <a:t>antar</a:t>
            </a:r>
            <a:r>
              <a:rPr lang="en-ID" sz="1350" dirty="0">
                <a:solidFill>
                  <a:srgbClr val="D1D5DB"/>
                </a:solidFill>
                <a:latin typeface="DejaVu Sans"/>
                <a:cs typeface="DejaVu Sans"/>
              </a:rPr>
              <a:t> negara.</a:t>
            </a:r>
          </a:p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endParaRPr sz="1350" spc="-11" dirty="0">
              <a:solidFill>
                <a:srgbClr val="D1D5DB"/>
              </a:solidFill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91744" y="4808261"/>
            <a:ext cx="221827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endParaRPr sz="1350" dirty="0">
              <a:solidFill>
                <a:srgbClr val="D1D5DB"/>
              </a:solidFill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78153" y="5964226"/>
            <a:ext cx="34311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A2342"/>
                </a:solidFill>
                <a:latin typeface="DejaVu Sans"/>
                <a:cs typeface="DejaVu Sans"/>
              </a:rPr>
              <a:t>Rasio</a:t>
            </a:r>
            <a:r>
              <a:rPr sz="1200" b="1" spc="-10" dirty="0">
                <a:solidFill>
                  <a:srgbClr val="0A2342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0A2342"/>
                </a:solidFill>
                <a:latin typeface="DejaVu Sans"/>
                <a:cs typeface="DejaVu Sans"/>
              </a:rPr>
              <a:t>Max</a:t>
            </a:r>
            <a:r>
              <a:rPr sz="1200" b="1" dirty="0">
                <a:solidFill>
                  <a:srgbClr val="0A234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A2342"/>
                </a:solidFill>
                <a:latin typeface="DejaVu Sans"/>
                <a:cs typeface="DejaVu Sans"/>
              </a:rPr>
              <a:t>vs</a:t>
            </a:r>
            <a:r>
              <a:rPr sz="1200" b="1" dirty="0">
                <a:solidFill>
                  <a:srgbClr val="0A234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A2342"/>
                </a:solidFill>
                <a:latin typeface="DejaVu Sans"/>
                <a:cs typeface="DejaVu Sans"/>
              </a:rPr>
              <a:t>Min</a:t>
            </a:r>
            <a:r>
              <a:rPr sz="1200" b="1" spc="-10" dirty="0">
                <a:solidFill>
                  <a:srgbClr val="0A2342"/>
                </a:solidFill>
                <a:latin typeface="DejaVu Sans"/>
                <a:cs typeface="DejaVu Sans"/>
              </a:rPr>
              <a:t> </a:t>
            </a:r>
            <a:r>
              <a:rPr sz="1200" b="1" spc="-38" dirty="0">
                <a:solidFill>
                  <a:srgbClr val="0A2342"/>
                </a:solidFill>
                <a:latin typeface="DejaVu Sans"/>
                <a:cs typeface="DejaVu Sans"/>
              </a:rPr>
              <a:t>Avg</a:t>
            </a:r>
            <a:r>
              <a:rPr sz="1200" b="1" spc="11" dirty="0">
                <a:solidFill>
                  <a:srgbClr val="0A2342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0A2342"/>
                </a:solidFill>
                <a:latin typeface="DejaVu Sans"/>
                <a:cs typeface="DejaVu Sans"/>
              </a:rPr>
              <a:t>Basket:</a:t>
            </a:r>
            <a:r>
              <a:rPr sz="1200" b="1" dirty="0">
                <a:solidFill>
                  <a:srgbClr val="0A2342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A2342"/>
                </a:solidFill>
                <a:latin typeface="DejaVu Sans"/>
                <a:cs typeface="DejaVu Sans"/>
              </a:rPr>
              <a:t>677.05%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24631" y="5898751"/>
            <a:ext cx="1020199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00" i="1" dirty="0">
                <a:solidFill>
                  <a:srgbClr val="D1D5DB"/>
                </a:solidFill>
                <a:latin typeface="DejaVu Sans"/>
                <a:cs typeface="DejaVu Sans"/>
              </a:rPr>
              <a:t>Analisis mendalam ini membuka peluang untuk merancang </a:t>
            </a:r>
            <a:r>
              <a:rPr sz="1500" i="1" dirty="0">
                <a:solidFill>
                  <a:srgbClr val="FFFFFF"/>
                </a:solidFill>
                <a:latin typeface="DejaVu Sans"/>
                <a:cs typeface="DejaVu Sans"/>
              </a:rPr>
              <a:t>strategi pemasaran </a:t>
            </a:r>
            <a:r>
              <a:rPr sz="1500" i="1" dirty="0">
                <a:solidFill>
                  <a:srgbClr val="D1D5DB"/>
                </a:solidFill>
                <a:latin typeface="DejaVu Sans"/>
                <a:cs typeface="DejaVu Sans"/>
              </a:rPr>
              <a:t>yang lebih </a:t>
            </a:r>
            <a:r>
              <a:rPr sz="1500" i="1" dirty="0">
                <a:solidFill>
                  <a:srgbClr val="FFFFFF"/>
                </a:solidFill>
                <a:latin typeface="DejaVu Sans"/>
                <a:cs typeface="DejaVu Sans"/>
              </a:rPr>
              <a:t>personal dan</a:t>
            </a:r>
            <a:r>
              <a:rPr lang="en-US" sz="1500" i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en-ID" sz="1500" i="1" dirty="0" err="1">
                <a:solidFill>
                  <a:srgbClr val="FFFFFF"/>
                </a:solidFill>
                <a:latin typeface="DejaVu Sans"/>
                <a:cs typeface="DejaVu Sans"/>
              </a:rPr>
              <a:t>efektif</a:t>
            </a:r>
            <a:r>
              <a:rPr lang="en-ID" sz="1500" i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en-ID" sz="1500" i="1" dirty="0" err="1">
                <a:solidFill>
                  <a:srgbClr val="D1D5DB"/>
                </a:solidFill>
                <a:latin typeface="DejaVu Sans"/>
                <a:cs typeface="DejaVu Sans"/>
              </a:rPr>
              <a:t>berdasarkan</a:t>
            </a:r>
            <a:r>
              <a:rPr lang="en-ID" sz="1500" i="1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lang="en-ID" sz="1500" i="1" dirty="0">
                <a:solidFill>
                  <a:srgbClr val="D1D5DB"/>
                </a:solidFill>
                <a:latin typeface="DejaVu Sans"/>
                <a:cs typeface="DejaVu Sans"/>
              </a:rPr>
              <a:t>data </a:t>
            </a:r>
            <a:r>
              <a:rPr lang="en-ID" sz="1500" i="1" dirty="0" err="1">
                <a:solidFill>
                  <a:srgbClr val="D1D5DB"/>
                </a:solidFill>
                <a:latin typeface="DejaVu Sans"/>
                <a:cs typeface="DejaVu Sans"/>
              </a:rPr>
              <a:t>perilaku</a:t>
            </a:r>
            <a:r>
              <a:rPr lang="en-ID" sz="1500" i="1" spc="1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lang="en-ID" sz="1500" i="1" dirty="0" err="1">
                <a:solidFill>
                  <a:srgbClr val="D1D5DB"/>
                </a:solidFill>
                <a:latin typeface="DejaVu Sans"/>
                <a:cs typeface="DejaVu Sans"/>
              </a:rPr>
              <a:t>pelanggan</a:t>
            </a:r>
            <a:r>
              <a:rPr lang="en-ID" sz="1500" i="1" dirty="0">
                <a:solidFill>
                  <a:srgbClr val="D1D5DB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06747" y="6102151"/>
            <a:ext cx="448595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endParaRPr sz="1500" dirty="0">
              <a:solidFill>
                <a:srgbClr val="D1D5DB"/>
              </a:solidFill>
              <a:latin typeface="DejaVu Sans"/>
              <a:cs typeface="DejaVu Sans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2A156E37-1F02-5080-1D57-3420C1EAD83C}"/>
              </a:ext>
            </a:extLst>
          </p:cNvPr>
          <p:cNvSpPr txBox="1"/>
          <p:nvPr/>
        </p:nvSpPr>
        <p:spPr>
          <a:xfrm>
            <a:off x="7013953" y="5114876"/>
            <a:ext cx="4290866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4"/>
              </a:lnSpc>
            </a:pPr>
            <a:r>
              <a:rPr lang="en-ID" sz="1350" b="1" spc="-34" dirty="0" err="1">
                <a:latin typeface="DejaVu Sans"/>
                <a:cs typeface="DejaVu Sans"/>
              </a:rPr>
              <a:t>Rasio</a:t>
            </a:r>
            <a:r>
              <a:rPr lang="en-ID" sz="1350" b="1" spc="-34" dirty="0">
                <a:latin typeface="DejaVu Sans"/>
                <a:cs typeface="DejaVu Sans"/>
              </a:rPr>
              <a:t> Max vs Min </a:t>
            </a:r>
            <a:r>
              <a:rPr lang="en-ID" sz="1350" b="1" spc="-34" dirty="0" err="1">
                <a:latin typeface="DejaVu Sans"/>
                <a:cs typeface="DejaVu Sans"/>
              </a:rPr>
              <a:t>Avg</a:t>
            </a:r>
            <a:r>
              <a:rPr lang="en-ID" sz="1350" b="1" spc="-34" dirty="0">
                <a:latin typeface="DejaVu Sans"/>
                <a:cs typeface="DejaVu Sans"/>
              </a:rPr>
              <a:t> Basket: 677.05%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A4DF8E-D20F-8770-F6F6-C90C21350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3966" y="-118137"/>
            <a:ext cx="1678437" cy="1386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9440" y="247339"/>
            <a:ext cx="7182518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Segmen Pelanggan Paling Menguntungkan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217" y="676119"/>
            <a:ext cx="1638411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ADD8E6"/>
                </a:solidFill>
                <a:latin typeface="Liberation Sans"/>
                <a:cs typeface="Liberation Sans"/>
              </a:rPr>
              <a:t>(RFM</a:t>
            </a:r>
            <a:r>
              <a:rPr sz="1800" spc="-99" dirty="0">
                <a:solidFill>
                  <a:srgbClr val="ADD8E6"/>
                </a:solidFill>
                <a:latin typeface="Liberation Sans"/>
                <a:cs typeface="Liberation Sans"/>
              </a:rPr>
              <a:t> </a:t>
            </a:r>
            <a:r>
              <a:rPr sz="1800" dirty="0">
                <a:solidFill>
                  <a:srgbClr val="ADD8E6"/>
                </a:solidFill>
                <a:latin typeface="Liberation Sans"/>
                <a:cs typeface="Liberation Sans"/>
              </a:rPr>
              <a:t>Analisis)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499" y="1307157"/>
            <a:ext cx="4814366" cy="2296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8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D1D5DB"/>
                </a:solidFill>
                <a:latin typeface="Liberation Sans"/>
                <a:cs typeface="Liberation Sans"/>
              </a:rPr>
              <a:t>Rata-rata Pendapatan per Pelanggan </a:t>
            </a:r>
            <a:r>
              <a:rPr sz="1350" b="1" spc="-17" dirty="0">
                <a:solidFill>
                  <a:srgbClr val="D1D5DB"/>
                </a:solidFill>
                <a:latin typeface="Liberation Sans"/>
                <a:cs typeface="Liberation Sans"/>
              </a:rPr>
              <a:t>(Avg</a:t>
            </a:r>
            <a:r>
              <a:rPr sz="1350" b="1" spc="17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D1D5DB"/>
                </a:solidFill>
                <a:latin typeface="Liberation Sans"/>
                <a:cs typeface="Liberation Sans"/>
              </a:rPr>
              <a:t>Revenue/Cust)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1603" y="1650931"/>
            <a:ext cx="2187680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Liberation Sans"/>
                <a:cs typeface="Liberation Sans"/>
              </a:rPr>
              <a:t>New Cust </a:t>
            </a:r>
            <a:r>
              <a:rPr sz="105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Total</a:t>
            </a:r>
            <a:r>
              <a:rPr sz="1050" b="1" spc="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iberation Sans"/>
                <a:cs typeface="Liberation Sans"/>
              </a:rPr>
              <a:t>Revenue: 14,8 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28699" y="4923420"/>
            <a:ext cx="1592125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New Customers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24299" y="4923420"/>
            <a:ext cx="649951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Loyal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19899" y="4923420"/>
            <a:ext cx="808732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At Risk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715499" y="4923420"/>
            <a:ext cx="1189639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Champions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1499" y="5317554"/>
            <a:ext cx="1537617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Rp 18.015,76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67099" y="5317554"/>
            <a:ext cx="1410481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Rp 4.831,23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62699" y="5317554"/>
            <a:ext cx="1410480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Rp 2.720,04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58299" y="5317554"/>
            <a:ext cx="1219832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Rp 819,30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71499" y="5622856"/>
            <a:ext cx="1261848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CA3AF"/>
                </a:solidFill>
                <a:latin typeface="Liberation Sans"/>
                <a:cs typeface="Liberation Sans"/>
              </a:rPr>
              <a:t>Avg Revenue/Cust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67099" y="5622856"/>
            <a:ext cx="1261848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CA3AF"/>
                </a:solidFill>
                <a:latin typeface="Liberation Sans"/>
                <a:cs typeface="Liberation Sans"/>
              </a:rPr>
              <a:t>Avg Revenue/Cust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62699" y="5622856"/>
            <a:ext cx="1261848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CA3AF"/>
                </a:solidFill>
                <a:latin typeface="Liberation Sans"/>
                <a:cs typeface="Liberation Sans"/>
              </a:rPr>
              <a:t>Avg Revenue/Cust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258299" y="5622856"/>
            <a:ext cx="1261848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9CA3AF"/>
                </a:solidFill>
                <a:latin typeface="Liberation Sans"/>
                <a:cs typeface="Liberation Sans"/>
              </a:rPr>
              <a:t>Avg Revenue/Cust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299" y="6106827"/>
            <a:ext cx="937710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A2342"/>
                </a:solidFill>
                <a:latin typeface="Liberation Sans"/>
                <a:cs typeface="Liberation Sans"/>
              </a:rPr>
              <a:t>Potensi Tinggi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771899" y="6106827"/>
            <a:ext cx="1308403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A2342"/>
                </a:solidFill>
                <a:latin typeface="Liberation Sans"/>
                <a:cs typeface="Liberation Sans"/>
              </a:rPr>
              <a:t>Pembelian Konsisten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67499" y="6106827"/>
            <a:ext cx="1009984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A2342"/>
                </a:solidFill>
                <a:latin typeface="Liberation Sans"/>
                <a:cs typeface="Liberation Sans"/>
              </a:rPr>
              <a:t>Perlu Intervensi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563099" y="6106827"/>
            <a:ext cx="1028960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A2342"/>
                </a:solidFill>
                <a:latin typeface="Liberation Sans"/>
                <a:cs typeface="Liberation Sans"/>
              </a:rPr>
              <a:t>Paling Berharga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080104" y="6678327"/>
            <a:ext cx="1111839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9CA3AF"/>
                </a:solidFill>
                <a:latin typeface="Liberation Sans"/>
                <a:cs typeface="Liberation Sans"/>
              </a:rPr>
              <a:t>Source: image.png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9ED7CFF-A7FD-B60D-A2C7-804F82137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43966" y="-118137"/>
            <a:ext cx="1678437" cy="1386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115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5881" y="395485"/>
            <a:ext cx="10314917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Rekomendasi </a:t>
            </a:r>
            <a:r>
              <a:rPr kumimoji="0" sz="3000" b="1" i="0" u="none" strike="noStrike" kern="1200" cap="none" spc="12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Strategis</a:t>
            </a:r>
            <a:r>
              <a:rPr kumimoji="0" sz="3000" b="1" i="0" u="none" strike="noStrike" kern="1200" cap="none" spc="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kumimoji="0" sz="3000" b="1" i="0" u="none" strike="noStrike" kern="1200" cap="none" spc="28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sz="3000" b="1" i="0" u="none" strike="noStrike" kern="1200" cap="none" spc="1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Langkah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sz="3000" b="1" i="0" u="none" strike="noStrike" kern="1200" cap="none" spc="14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Selanjutnya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78502" y="1375335"/>
            <a:ext cx="2060213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Kembangkan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4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Loyalitas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23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Pelanggan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44798" y="1461060"/>
            <a:ext cx="254738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Optimalisasi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Stok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&amp;</a:t>
            </a:r>
            <a:r>
              <a:rPr kumimoji="0" sz="1200" b="1" i="0" u="none" strike="noStrike" kern="1200" cap="none" spc="-3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7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Promosi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11650" y="1461060"/>
            <a:ext cx="262247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18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Amankan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Stok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86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To</a:t>
            </a:r>
            <a:r>
              <a:rPr kumimoji="0" sz="1200" b="1" i="0" u="none" strike="noStrike" kern="1200" cap="none" spc="-434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7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10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Produk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9656" y="1889685"/>
            <a:ext cx="3376506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Optimalisasi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stok,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promosi,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&amp;</a:t>
            </a:r>
            <a:r>
              <a:rPr kumimoji="0" sz="1200" b="0" i="0" u="none" strike="noStrike" kern="1200" cap="none" spc="-2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kampanye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30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di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bulan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&amp;</a:t>
            </a:r>
            <a:r>
              <a:rPr kumimoji="0" sz="1200" b="0" i="0" u="none" strike="noStrike" kern="1200" cap="none" spc="-2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hari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puncak.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56508" y="1889685"/>
            <a:ext cx="2976192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Amankan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ketersediaan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stok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0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To</a:t>
            </a:r>
            <a:r>
              <a:rPr kumimoji="0" sz="1200" b="0" i="0" u="none" strike="noStrike" kern="1200" cap="none" spc="-39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</a:t>
            </a:r>
            <a:r>
              <a:rPr kumimoji="0" sz="1200" b="0" i="0" u="none" strike="noStrike" kern="1200" cap="none" spc="-2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30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produk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terlaris.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23360" y="1927785"/>
            <a:ext cx="3036549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Buat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program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loyalitas/early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access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30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untuk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segmen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'Champions'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&amp;</a:t>
            </a:r>
            <a:r>
              <a:rPr kumimoji="0" sz="1200" b="0" i="0" u="none" strike="noStrike" kern="1200" cap="none" spc="-2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'Loyal'.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9656" y="2365935"/>
            <a:ext cx="3265419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Fokus</a:t>
            </a:r>
            <a:r>
              <a:rPr kumimoji="0" sz="1200" b="0" i="0" u="none" strike="noStrike" kern="1200" cap="none" spc="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pada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November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&amp;</a:t>
            </a:r>
            <a:r>
              <a:rPr kumimoji="0" sz="1200" b="0" i="0" u="none" strike="noStrike" kern="1200" cap="none" spc="-2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Minggu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untuk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23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penjualan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tertinggi.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56508" y="2365935"/>
            <a:ext cx="3403839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Aktifkan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strategi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cross-sell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&amp;</a:t>
            </a:r>
            <a:r>
              <a:rPr kumimoji="0" sz="1200" b="0" i="0" u="none" strike="noStrike" kern="1200" cap="none" spc="-2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upsell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yang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23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relevan.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29785" y="2404035"/>
            <a:ext cx="314483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Personalisasi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penawaran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upsell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2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mereka.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64519" y="3432735"/>
            <a:ext cx="27071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Reaktivasi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Pelanggan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2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'At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Risk'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45076" y="3432735"/>
            <a:ext cx="271517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Tingkatkan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18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Konversi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srgbClr val="0A2342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Checkout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15802" y="3861360"/>
            <a:ext cx="287609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2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Lakukan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kampanye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win-back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2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efektif.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89935" y="3861360"/>
            <a:ext cx="3552239" cy="897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Optimalkan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checkout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&amp;</a:t>
            </a:r>
            <a:r>
              <a:rPr kumimoji="0" sz="1200" b="0" i="0" u="none" strike="noStrike" kern="1200" cap="none" spc="-2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ongkir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di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2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area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3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AOV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23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tinggi.</a:t>
            </a:r>
          </a:p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60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Eksperimen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diskon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ongkir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di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hari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non-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puncak.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09378" y="4118535"/>
            <a:ext cx="3157609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6424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Tawarkan</a:t>
            </a:r>
            <a:r>
              <a:rPr kumimoji="0" sz="1200" b="0" i="0" u="none" strike="noStrike" kern="1200" cap="none" spc="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voucher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&amp;</a:t>
            </a:r>
            <a:r>
              <a:rPr kumimoji="0" sz="1200" b="0" i="0" u="none" strike="noStrike" kern="1200" cap="none" spc="-2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pengingat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untuk</a:t>
            </a:r>
          </a:p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23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1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segmen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2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'At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 </a:t>
            </a:r>
            <a:r>
              <a:rPr kumimoji="0" sz="1200" b="0" i="0" u="none" strike="noStrike" kern="1200" cap="none" spc="-1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Risk'.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266556" y="7538764"/>
            <a:ext cx="171463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Sources: Bliss, nolimit.id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80434" y="7890435"/>
            <a:ext cx="84497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3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ejaVu Sans"/>
                <a:ea typeface="+mn-ea"/>
                <a:cs typeface="DejaVu Sans"/>
              </a:rPr>
              <a:t>x@y.com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C5DB53B-F270-0A47-4FC6-6F502EFC9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58" y="4969726"/>
            <a:ext cx="5898662" cy="519053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8A8F3E7-67A2-CB29-8FB5-84A3B24EA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406" y="6234885"/>
            <a:ext cx="6259587" cy="39253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AEDFD4C-5BDE-7A6B-C22D-82891603E5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4549" y="-196523"/>
            <a:ext cx="1398698" cy="115574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4E57794E-D78B-D834-E7FF-6AA9D85A71BB}"/>
              </a:ext>
            </a:extLst>
          </p:cNvPr>
          <p:cNvGrpSpPr/>
          <p:nvPr/>
        </p:nvGrpSpPr>
        <p:grpSpPr>
          <a:xfrm>
            <a:off x="381279" y="5702862"/>
            <a:ext cx="5454907" cy="939879"/>
            <a:chOff x="6376162" y="5377635"/>
            <a:chExt cx="5454907" cy="939879"/>
          </a:xfrm>
        </p:grpSpPr>
        <p:sp>
          <p:nvSpPr>
            <p:cNvPr id="38" name="object 18"/>
            <p:cNvSpPr txBox="1"/>
            <p:nvPr/>
          </p:nvSpPr>
          <p:spPr>
            <a:xfrm>
              <a:off x="6498906" y="5377635"/>
              <a:ext cx="5332163" cy="60272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ts val="136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-17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"Pengelolaan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2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data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4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pelanggan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yang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efektif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4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adalah</a:t>
              </a:r>
              <a:r>
                <a:rPr kumimoji="0" sz="1200" b="0" i="0" u="none" strike="noStrike" kern="1200" cap="none" spc="-1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23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kunci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4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optimasi</a:t>
              </a:r>
            </a:p>
            <a:p>
              <a:pPr marL="0" marR="0" lvl="0" indent="0" algn="just" defTabSz="914400" rtl="0" eaLnBrk="1" fontAlgn="auto" latinLnBrk="0" hangingPunct="1">
                <a:lnSpc>
                  <a:spcPts val="1368"/>
                </a:lnSpc>
                <a:spcBef>
                  <a:spcPts val="23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-12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strategi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pemasaran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dan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2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penjualan,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8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memungkinkan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2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personalisasi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dan</a:t>
              </a:r>
            </a:p>
            <a:p>
              <a:pPr marL="0" marR="0" lvl="0" indent="0" algn="just" defTabSz="914400" rtl="0" eaLnBrk="1" fontAlgn="auto" latinLnBrk="0" hangingPunct="1">
                <a:lnSpc>
                  <a:spcPts val="1368"/>
                </a:lnSpc>
                <a:spcBef>
                  <a:spcPts val="281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1200" cap="none" spc="-1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segmentasi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pasar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yang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4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tepat</a:t>
              </a:r>
              <a:r>
                <a: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 </a:t>
              </a:r>
              <a:r>
                <a:rPr kumimoji="0" sz="1200" b="0" i="0" u="none" strike="noStrike" kern="1200" cap="none" spc="-12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jaVu Sans"/>
                  <a:ea typeface="+mn-ea"/>
                  <a:cs typeface="DejaVu Sans"/>
                </a:rPr>
                <a:t>sasaran."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1F7BD54-BE9F-704C-27DB-E7C7C7F9B59D}"/>
                </a:ext>
              </a:extLst>
            </p:cNvPr>
            <p:cNvCxnSpPr/>
            <p:nvPr/>
          </p:nvCxnSpPr>
          <p:spPr>
            <a:xfrm>
              <a:off x="6376162" y="5377635"/>
              <a:ext cx="0" cy="631055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9B37189-1ED0-C712-81F4-5353BEBD1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3339" y="6117489"/>
              <a:ext cx="1381125" cy="200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A72C-BCCF-A141-8EAF-C80FE0C9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6A48239-D5D5-5CF5-4DD4-06A252813998}"/>
              </a:ext>
            </a:extLst>
          </p:cNvPr>
          <p:cNvSpPr/>
          <p:nvPr/>
        </p:nvSpPr>
        <p:spPr>
          <a:xfrm>
            <a:off x="5270103" y="1866421"/>
            <a:ext cx="6223794" cy="1619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81D5B-B2EA-CC9D-73ED-B29F567B9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94549" y="-196523"/>
            <a:ext cx="1398698" cy="1155748"/>
          </a:xfrm>
          <a:prstGeom prst="rect">
            <a:avLst/>
          </a:prstGeom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F469539D-C8E3-48CC-F443-B80092A7B6AA}"/>
              </a:ext>
            </a:extLst>
          </p:cNvPr>
          <p:cNvSpPr/>
          <p:nvPr/>
        </p:nvSpPr>
        <p:spPr>
          <a:xfrm flipV="1">
            <a:off x="5279176" y="5082913"/>
            <a:ext cx="2531325" cy="0"/>
          </a:xfrm>
          <a:prstGeom prst="line">
            <a:avLst/>
          </a:prstGeom>
          <a:ln w="19050" cap="flat">
            <a:solidFill>
              <a:srgbClr val="02D1B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 sz="15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8BED13-3503-3012-569D-D5F674C4BC13}"/>
              </a:ext>
            </a:extLst>
          </p:cNvPr>
          <p:cNvSpPr txBox="1">
            <a:spLocks/>
          </p:cNvSpPr>
          <p:nvPr/>
        </p:nvSpPr>
        <p:spPr>
          <a:xfrm>
            <a:off x="5270103" y="3495490"/>
            <a:ext cx="6223794" cy="194100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1667" dirty="0" err="1"/>
              <a:t>Presentasi</a:t>
            </a:r>
            <a:r>
              <a:rPr lang="en-ID" sz="1667" dirty="0"/>
              <a:t> oleh: Ichsan Saputra</a:t>
            </a:r>
          </a:p>
          <a:p>
            <a:pPr marL="0" indent="0">
              <a:buNone/>
            </a:pPr>
            <a:r>
              <a:rPr lang="en-ID" sz="1667" dirty="0"/>
              <a:t>Email: </a:t>
            </a:r>
            <a:r>
              <a:rPr lang="en-ID" sz="1667" i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Ichsan.saputra007@gmail.com</a:t>
            </a:r>
            <a:endParaRPr lang="en-ID" sz="1667" i="1" dirty="0"/>
          </a:p>
          <a:p>
            <a:pPr marL="0" indent="0">
              <a:buNone/>
            </a:pPr>
            <a:endParaRPr lang="en-ID" sz="1667" dirty="0"/>
          </a:p>
          <a:p>
            <a:pPr marL="0" indent="0">
              <a:buNone/>
            </a:pPr>
            <a:r>
              <a:rPr lang="en-ID" sz="1667" dirty="0" err="1"/>
              <a:t>Untuk</a:t>
            </a:r>
            <a:r>
              <a:rPr lang="en-ID" sz="1667" dirty="0"/>
              <a:t> </a:t>
            </a:r>
            <a:r>
              <a:rPr lang="en-ID" sz="1667" dirty="0" err="1"/>
              <a:t>diskusi</a:t>
            </a:r>
            <a:r>
              <a:rPr lang="en-ID" sz="1667" dirty="0"/>
              <a:t> </a:t>
            </a:r>
            <a:r>
              <a:rPr lang="en-ID" sz="1667" dirty="0" err="1"/>
              <a:t>lebih</a:t>
            </a:r>
            <a:r>
              <a:rPr lang="en-ID" sz="1667" dirty="0"/>
              <a:t> </a:t>
            </a:r>
            <a:r>
              <a:rPr lang="en-ID" sz="1667" dirty="0" err="1"/>
              <a:t>lanjut</a:t>
            </a:r>
            <a:r>
              <a:rPr lang="en-ID" sz="1667" dirty="0"/>
              <a:t> </a:t>
            </a:r>
            <a:r>
              <a:rPr lang="en-ID" sz="1667" dirty="0" err="1"/>
              <a:t>atau</a:t>
            </a:r>
            <a:r>
              <a:rPr lang="en-ID" sz="1667" dirty="0"/>
              <a:t> </a:t>
            </a:r>
            <a:r>
              <a:rPr lang="en-ID" sz="1667" dirty="0" err="1"/>
              <a:t>akses</a:t>
            </a:r>
            <a:r>
              <a:rPr lang="en-ID" sz="1667" dirty="0"/>
              <a:t> </a:t>
            </a:r>
            <a:r>
              <a:rPr lang="en-ID" sz="1667" dirty="0" err="1"/>
              <a:t>ke</a:t>
            </a:r>
            <a:r>
              <a:rPr lang="en-ID" sz="1667" dirty="0"/>
              <a:t> notebook </a:t>
            </a:r>
            <a:r>
              <a:rPr lang="en-ID" sz="1667" dirty="0" err="1"/>
              <a:t>analisis</a:t>
            </a:r>
            <a:r>
              <a:rPr lang="en-ID" sz="1667" dirty="0"/>
              <a:t>, </a:t>
            </a:r>
            <a:r>
              <a:rPr lang="en-ID" sz="1667" dirty="0" err="1"/>
              <a:t>silakan</a:t>
            </a:r>
            <a:r>
              <a:rPr lang="en-ID" sz="1667" dirty="0"/>
              <a:t> </a:t>
            </a:r>
            <a:r>
              <a:rPr lang="en-ID" sz="1667" dirty="0" err="1"/>
              <a:t>hubungi</a:t>
            </a:r>
            <a:r>
              <a:rPr lang="en-ID" sz="1667" dirty="0"/>
              <a:t> </a:t>
            </a:r>
            <a:r>
              <a:rPr lang="en-ID" sz="1667" dirty="0" err="1"/>
              <a:t>saya</a:t>
            </a:r>
            <a:r>
              <a:rPr lang="en-ID" sz="1667" dirty="0"/>
              <a:t>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1836B67-0CFA-6C3D-5271-633D1ADDF2F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5D1B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ChalkSketch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4572000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134003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622</Words>
  <Application>Microsoft Office PowerPoint</Application>
  <PresentationFormat>Widescreen</PresentationFormat>
  <Paragraphs>136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DejaVu Sans</vt:lpstr>
      <vt:lpstr>Liberation Sans</vt:lpstr>
      <vt:lpstr>Aptos</vt:lpstr>
      <vt:lpstr>Cabin</vt:lpstr>
      <vt:lpstr>Times New Roman</vt:lpstr>
      <vt:lpstr>Poppins Light</vt:lpstr>
      <vt:lpstr>Calibri</vt:lpstr>
      <vt:lpstr>ADLaM Display</vt:lpstr>
      <vt:lpstr>Theme Office</vt:lpstr>
      <vt:lpstr>1_Theme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Ichsan Saputra</dc:creator>
  <cp:lastModifiedBy>Ichsan Saputra</cp:lastModifiedBy>
  <cp:revision>7</cp:revision>
  <dcterms:modified xsi:type="dcterms:W3CDTF">2025-09-18T09:11:01Z</dcterms:modified>
</cp:coreProperties>
</file>